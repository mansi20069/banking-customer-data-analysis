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8" r:id="rId3"/>
    <p:sldId id="257" r:id="rId5"/>
    <p:sldId id="258" r:id="rId6"/>
    <p:sldId id="259" r:id="rId7"/>
    <p:sldId id="260" r:id="rId8"/>
    <p:sldId id="261" r:id="rId9"/>
    <p:sldId id="270" r:id="rId10"/>
    <p:sldId id="271" r:id="rId11"/>
    <p:sldId id="272" r:id="rId12"/>
    <p:sldId id="273" r:id="rId13"/>
    <p:sldId id="262" r:id="rId14"/>
    <p:sldId id="263" r:id="rId15"/>
    <p:sldId id="264" r:id="rId16"/>
    <p:sldId id="265" r:id="rId17"/>
    <p:sldId id="266" r:id="rId18"/>
  </p:sldIdLst>
  <p:sldSz cx="9144000" cy="5143500" type="screen16x9"/>
  <p:notesSz cx="5143500" cy="9144000"/>
  <p:custDataLst>
    <p:tags r:id="rId2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13" d="100"/>
          <a:sy n="113" d="100"/>
        </p:scale>
        <p:origin x="586" y="86"/>
      </p:cViewPr>
      <p:guideLst>
        <p:guide orient="horz" pos="612"/>
        <p:guide orient="horz" pos="852"/>
        <p:guide pos="1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13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tags" Target="../tags/tag1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/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8"/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/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8" name="Picture 7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/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/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/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/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/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/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/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/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/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/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5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  <a:endParaRPr lang="en-US" sz="1400" b="1" spc="583" dirty="0">
                <a:solidFill>
                  <a:srgbClr val="FFFFFF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5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54979" y="3806607"/>
            <a:ext cx="1633432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40"/>
              </a:lnSpc>
            </a:pPr>
            <a:r>
              <a:rPr lang="en-IN" alt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Mansi Pant</a:t>
            </a:r>
            <a:endParaRPr lang="en-IN" alt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/>
          <p:cNvPicPr>
            <a:picLocks noChangeAspect="1"/>
          </p:cNvPicPr>
          <p:nvPr/>
        </p:nvPicPr>
        <p:blipFill>
          <a:blip r:embed="rId3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5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176086" y="3803810"/>
            <a:ext cx="2272871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40"/>
              </a:lnSpc>
            </a:pPr>
            <a:r>
              <a:rPr lang="en-IN" alt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pantmansi388@gmail.com</a:t>
            </a:r>
            <a:endParaRPr lang="en-IN" alt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/>
          <p:cNvPicPr>
            <a:picLocks noChangeAspect="1"/>
          </p:cNvPicPr>
          <p:nvPr/>
        </p:nvPicPr>
        <p:blipFill>
          <a:blip r:embed="rId3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/>
          <p:cNvGrpSpPr/>
          <p:nvPr/>
        </p:nvGrpSpPr>
        <p:grpSpPr>
          <a:xfrm>
            <a:off x="860459" y="4337076"/>
            <a:ext cx="2272871" cy="422569"/>
            <a:chOff x="3139699" y="4295282"/>
            <a:chExt cx="2272871" cy="422569"/>
          </a:xfrm>
        </p:grpSpPr>
        <p:sp>
          <p:nvSpPr>
            <p:cNvPr id="67" name="TextBox 41"/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5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  <a:endPara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endParaRPr>
            </a:p>
          </p:txBody>
        </p:sp>
        <p:sp>
          <p:nvSpPr>
            <p:cNvPr id="68" name="TextBox 43"/>
            <p:cNvSpPr txBox="1"/>
            <p:nvPr/>
          </p:nvSpPr>
          <p:spPr>
            <a:xfrm>
              <a:off x="3139699" y="4456866"/>
              <a:ext cx="2272871" cy="260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40"/>
                </a:lnSpc>
              </a:pPr>
              <a:r>
                <a:rPr lang="en-IN" alt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Sagar Mehta Sir</a:t>
              </a:r>
              <a:endParaRPr lang="en-IN" alt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/>
          <p:cNvPicPr>
            <a:picLocks noChangeAspect="1"/>
          </p:cNvPicPr>
          <p:nvPr/>
        </p:nvPicPr>
        <p:blipFill>
          <a:blip r:embed="rId4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/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Shape 8"/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Shape 9"/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Shape 9"/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7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  <a:endParaRPr lang="en-IN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25" name="Picture 24" descr="A screen shot of a computer&#10;&#10;AI-generated content may be incorrect.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240" y="1082801"/>
            <a:ext cx="5002346" cy="327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alt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This project uses power BI and Microsoft Copilot to anaylze banking data.</a:t>
            </a:r>
            <a:endParaRPr lang="en-IN" altLang="en-US" sz="1800" dirty="0">
              <a:solidFill>
                <a:schemeClr val="tx1"/>
              </a:solidFill>
              <a:effectLst/>
              <a:latin typeface="Lato" panose="020F0502020204030203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alt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Convert complex data into simple visual dashboards.</a:t>
            </a:r>
            <a:endParaRPr lang="en-IN" altLang="en-US" sz="1800" dirty="0">
              <a:solidFill>
                <a:schemeClr val="tx1"/>
              </a:solidFill>
              <a:effectLst/>
              <a:latin typeface="Lato" panose="020F0502020204030203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alt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Identifies customer patterns, risk levels, and  finanical trend patterns.</a:t>
            </a:r>
            <a:endParaRPr lang="en-IN" altLang="en-US" sz="1800" dirty="0">
              <a:solidFill>
                <a:schemeClr val="tx1"/>
              </a:solidFill>
              <a:effectLst/>
              <a:latin typeface="Lato" panose="020F0502020204030203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alt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Expected outcomes: Faster anaylsis, reduced manual effort, improved accuracy and better decision making.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indent="0">
              <a:spcAft>
                <a:spcPts val="800"/>
              </a:spcAft>
              <a:buFont typeface="Arial" panose="020B0604020202020204" pitchFamily="34" charset="0"/>
              <a:buNone/>
              <a:tabLst>
                <a:tab pos="4229100" algn="ctr"/>
              </a:tabLst>
            </a:pP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/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240" y="1082801"/>
            <a:ext cx="4762910" cy="3548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altLang="en-US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Difficulty in handling large banking data sets  leading to error and slow analysis. </a:t>
            </a:r>
            <a:endParaRPr lang="en-US" dirty="0">
              <a:solidFill>
                <a:schemeClr val="tx1"/>
              </a:solidFill>
              <a:effectLst/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alt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Traditional tools lack advanced analytics and efficiency making the problem significant 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alt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Affects bank managers, employee, analyst and the customer 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alt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Existing approaches power BI with Copilot have a limitation in scalability, accuracy and security 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alt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Scope limited to banking dataset analysis using PowerBI and copilot that is no real time data 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400" dirty="0">
                <a:latin typeface="Lato" panose="020F0502020204030203" pitchFamily="34" charset="0"/>
                <a:cs typeface="Arial" panose="020B0604020202020204" pitchFamily="34" charset="0"/>
              </a:rPr>
              <a:t>Use Power BI and Microsoft Copilot to analyse and visualise banking data efficiently</a:t>
            </a:r>
            <a:endParaRPr lang="en-IN" alt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400" dirty="0">
                <a:latin typeface="Lato" panose="020F0502020204030203" pitchFamily="34" charset="0"/>
                <a:cs typeface="Arial" panose="020B0604020202020204" pitchFamily="34" charset="0"/>
              </a:rPr>
              <a:t>Follow methodology:</a:t>
            </a:r>
            <a:endParaRPr lang="en-IN" alt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indent="0" algn="ctr">
              <a:buFont typeface="Arial" panose="020B0604020202020204" pitchFamily="34" charset="0"/>
              <a:buNone/>
            </a:pPr>
            <a:r>
              <a:rPr lang="en-IN" altLang="en-US" sz="1400" dirty="0">
                <a:latin typeface="Lato" panose="020F0502020204030203" pitchFamily="34" charset="0"/>
                <a:cs typeface="Arial" panose="020B0604020202020204" pitchFamily="34" charset="0"/>
              </a:rPr>
              <a:t>Data cleaning -&gt;Data analysis -&gt;Dashboard creation</a:t>
            </a:r>
            <a:endParaRPr lang="en-IN" alt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altLang="en-US" sz="1400" dirty="0">
                <a:latin typeface="Lato" panose="020F0502020204030203" pitchFamily="34" charset="0"/>
                <a:cs typeface="Arial" panose="020B0604020202020204" pitchFamily="34" charset="0"/>
              </a:rPr>
              <a:t>Solve issue of large data set handling. errors and slow manual processing</a:t>
            </a:r>
            <a:endParaRPr lang="en-IN" alt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altLang="en-US" sz="1400" dirty="0">
                <a:latin typeface="Lato" panose="020F0502020204030203" pitchFamily="34" charset="0"/>
                <a:cs typeface="Arial" panose="020B0604020202020204" pitchFamily="34" charset="0"/>
              </a:rPr>
              <a:t>Provide interactive dashboard and  AI generated insight for the better understanding </a:t>
            </a:r>
            <a:endParaRPr lang="en-IN" alt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altLang="en-US" sz="1400" dirty="0">
                <a:latin typeface="Lato" panose="020F0502020204030203" pitchFamily="34" charset="0"/>
                <a:cs typeface="Arial" panose="020B0604020202020204" pitchFamily="34" charset="0"/>
              </a:rPr>
              <a:t>Key benefits:-Faster analysis, improved accuracy, reduce manual effort, better decision making</a:t>
            </a:r>
            <a:endParaRPr lang="en-IN" alt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altLang="en-US" sz="1400" dirty="0">
                <a:latin typeface="Lato" panose="020F0502020204030203" pitchFamily="34" charset="0"/>
                <a:cs typeface="Arial" panose="020B0604020202020204" pitchFamily="34" charset="0"/>
              </a:rPr>
              <a:t>Innovation:- Combine data visualisation with Copilot for automated insights  </a:t>
            </a:r>
            <a:endParaRPr lang="en-IN" alt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altLang="en-US" sz="1400" dirty="0">
                <a:latin typeface="Lato" panose="020F0502020204030203" pitchFamily="34" charset="0"/>
                <a:cs typeface="Arial" panose="020B0604020202020204" pitchFamily="34" charset="0"/>
              </a:rPr>
              <a:t>Comparsion :-More efficient, scalable and user friendly than traditional Excel based analysis </a:t>
            </a:r>
            <a:endParaRPr lang="en-IN" alt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600" dirty="0">
                <a:latin typeface="Lato" panose="020F0502020204030203" pitchFamily="34" charset="0"/>
                <a:cs typeface="Arial" panose="020B0604020202020204" pitchFamily="34" charset="0"/>
              </a:rPr>
              <a:t>Kaggle banking dataset(CSV/Excel)</a:t>
            </a:r>
            <a:endParaRPr lang="en-IN" alt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600" dirty="0">
                <a:latin typeface="Lato" panose="020F0502020204030203" pitchFamily="34" charset="0"/>
                <a:cs typeface="Arial" panose="020B0604020202020204" pitchFamily="34" charset="0"/>
              </a:rPr>
              <a:t>Contains 13 columns and 1500 rows</a:t>
            </a:r>
            <a:endParaRPr lang="en-IN" alt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600" dirty="0">
                <a:latin typeface="Lato" panose="020F0502020204030203" pitchFamily="34" charset="0"/>
                <a:cs typeface="Arial" panose="020B0604020202020204" pitchFamily="34" charset="0"/>
              </a:rPr>
              <a:t>Fields like full name, country, age, gender,income level etc.</a:t>
            </a:r>
            <a:endParaRPr lang="en-IN" alt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600" dirty="0">
                <a:latin typeface="Lato" panose="020F0502020204030203" pitchFamily="34" charset="0"/>
                <a:cs typeface="Arial" panose="020B0604020202020204" pitchFamily="34" charset="0"/>
              </a:rPr>
              <a:t>Data cleaning using Power BI remove duplicates and unwanted data columns </a:t>
            </a:r>
            <a:endParaRPr lang="en-IN" alt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600" dirty="0">
                <a:latin typeface="Lato" panose="020F0502020204030203" pitchFamily="34" charset="0"/>
                <a:cs typeface="Arial" panose="020B0604020202020204" pitchFamily="34" charset="0"/>
              </a:rPr>
              <a:t>Data transformation and analysing using charts </a:t>
            </a:r>
            <a:endParaRPr lang="en-IN" alt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600" dirty="0">
                <a:latin typeface="Lato" panose="020F0502020204030203" pitchFamily="34" charset="0"/>
                <a:cs typeface="Arial" panose="020B0604020202020204" pitchFamily="34" charset="0"/>
              </a:rPr>
              <a:t>Power BI for visualization</a:t>
            </a:r>
            <a:endParaRPr lang="en-IN" alt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600" dirty="0">
                <a:latin typeface="Lato" panose="020F0502020204030203" pitchFamily="34" charset="0"/>
                <a:cs typeface="Arial" panose="020B0604020202020204" pitchFamily="34" charset="0"/>
              </a:rPr>
              <a:t>Microsoft corporate for AI insight and summaries </a:t>
            </a:r>
            <a:endParaRPr lang="en-IN" alt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600" dirty="0">
                <a:latin typeface="Lato" panose="020F0502020204030203" pitchFamily="34" charset="0"/>
                <a:cs typeface="Arial" panose="020B0604020202020204" pitchFamily="34" charset="0"/>
              </a:rPr>
              <a:t>Interactive dashboards[ Pie chart,Bar chat, scattered chart ]</a:t>
            </a:r>
            <a:endParaRPr lang="en-IN" alt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600" dirty="0">
                <a:latin typeface="Lato" panose="020F0502020204030203" pitchFamily="34" charset="0"/>
                <a:cs typeface="Arial" panose="020B0604020202020204" pitchFamily="34" charset="0"/>
              </a:rPr>
              <a:t>Easy to understand reports for decision making </a:t>
            </a:r>
            <a:endParaRPr lang="en-IN" alt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20" y="503555"/>
            <a:ext cx="8874125" cy="4448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020" y="437515"/>
            <a:ext cx="8460105" cy="42602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0" y="672465"/>
            <a:ext cx="8688070" cy="41948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511810"/>
            <a:ext cx="8460105" cy="4498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[Add description of Demo 1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[Add description of Demo 2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[Add description of Demo 3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17170" y="1115060"/>
            <a:ext cx="4942840" cy="291401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spcBef>
                <a:spcPts val="300"/>
              </a:spcBef>
              <a:spcAft>
                <a:spcPts val="400"/>
              </a:spcAft>
            </a:pPr>
            <a:endParaRPr lang="en-US" altLang="zh-CN" sz="1200">
              <a:latin typeface="Arial" panose="020B0604020202020204"/>
              <a:ea typeface="Arial" panose="020B0604020202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35915" y="1242060"/>
            <a:ext cx="4942840" cy="2914015"/>
          </a:xfrm>
          <a:prstGeom prst="rect">
            <a:avLst/>
          </a:prstGeom>
        </p:spPr>
        <p:txBody>
          <a:bodyPr wrap="square">
            <a:noAutofit/>
          </a:bodyPr>
          <a:p>
            <a:pPr marL="171450" indent="-171450" algn="just" defTabSz="26670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altLang="en-US" sz="1200">
                <a:latin typeface="Arial" panose="020B0604020202020204"/>
                <a:ea typeface="Arial" panose="020B0604020202020204"/>
              </a:rPr>
              <a:t>U</a:t>
            </a:r>
            <a:r>
              <a:rPr lang="en-US" altLang="en-US" sz="1200">
                <a:latin typeface="Arial" panose="020B0604020202020204"/>
                <a:ea typeface="Arial" panose="020B0604020202020204"/>
              </a:rPr>
              <a:t>sed Power BI &amp; Copilot for banking data analysis</a:t>
            </a:r>
            <a:endParaRPr lang="en-US" altLang="en-US" sz="1200">
              <a:latin typeface="Arial" panose="020B0604020202020204"/>
              <a:ea typeface="Arial" panose="020B0604020202020204"/>
            </a:endParaRPr>
          </a:p>
          <a:p>
            <a:pPr marL="171450" indent="-171450" algn="just" defTabSz="26670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/>
                <a:ea typeface="Arial" panose="020B0604020202020204"/>
              </a:rPr>
              <a:t>Simplified complex data for better decisions</a:t>
            </a:r>
            <a:endParaRPr lang="en-US" altLang="en-US" sz="1200">
              <a:latin typeface="Arial" panose="020B0604020202020204"/>
              <a:ea typeface="Arial" panose="020B0604020202020204"/>
            </a:endParaRPr>
          </a:p>
          <a:p>
            <a:pPr marL="171450" indent="-171450" algn="just" defTabSz="26670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/>
                <a:ea typeface="Arial" panose="020B0604020202020204"/>
              </a:rPr>
              <a:t>Created interactive dashboards (transactions, behavior, trends)</a:t>
            </a:r>
            <a:endParaRPr lang="en-US" altLang="en-US" sz="1200">
              <a:latin typeface="Arial" panose="020B0604020202020204"/>
              <a:ea typeface="Arial" panose="020B0604020202020204"/>
            </a:endParaRPr>
          </a:p>
          <a:p>
            <a:pPr marL="171450" indent="-171450" algn="just" defTabSz="26670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/>
                <a:ea typeface="Arial" panose="020B0604020202020204"/>
              </a:rPr>
              <a:t>Copilot saved time with quick insights</a:t>
            </a:r>
            <a:endParaRPr lang="en-US" altLang="en-US" sz="1200">
              <a:latin typeface="Arial" panose="020B0604020202020204"/>
              <a:ea typeface="Arial" panose="020B0604020202020204"/>
            </a:endParaRPr>
          </a:p>
          <a:p>
            <a:pPr marL="171450" indent="-171450" algn="just" defTabSz="26670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/>
                <a:ea typeface="Arial" panose="020B0604020202020204"/>
              </a:rPr>
              <a:t>Improved efficiency, accuracy, and productivity</a:t>
            </a:r>
            <a:endParaRPr lang="en-US" altLang="en-US" sz="1200">
              <a:latin typeface="Arial" panose="020B0604020202020204"/>
              <a:ea typeface="Arial" panose="020B0604020202020204"/>
            </a:endParaRPr>
          </a:p>
          <a:p>
            <a:pPr marL="171450" indent="-171450" algn="just" defTabSz="26670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/>
                <a:ea typeface="Arial" panose="020B0604020202020204"/>
              </a:rPr>
              <a:t>Enhanced skills in data analysis and AI tools</a:t>
            </a:r>
            <a:endParaRPr lang="en-US" altLang="en-US" sz="1200">
              <a:latin typeface="Arial" panose="020B0604020202020204"/>
              <a:ea typeface="Arial" panose="020B0604020202020204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dirty="0">
                <a:latin typeface="Lato" panose="020F0502020204030203" pitchFamily="34" charset="0"/>
                <a:cs typeface="Arial" panose="020B0604020202020204" pitchFamily="34" charset="0"/>
              </a:rPr>
              <a:t>Integrated real time data in power BI dashboard </a:t>
            </a:r>
            <a:endParaRPr lang="en-IN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IN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dirty="0">
                <a:latin typeface="Lato" panose="020F0502020204030203" pitchFamily="34" charset="0"/>
                <a:cs typeface="Arial" panose="020B0604020202020204" pitchFamily="34" charset="0"/>
              </a:rPr>
              <a:t>Use advanced copilot feature for deeper AI insights. </a:t>
            </a:r>
            <a:endParaRPr lang="en-IN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IN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dirty="0">
                <a:latin typeface="Lato" panose="020F0502020204030203" pitchFamily="34" charset="0"/>
                <a:cs typeface="Arial" panose="020B0604020202020204" pitchFamily="34" charset="0"/>
              </a:rPr>
              <a:t>Develop web/mobile dashboard using power BI services </a:t>
            </a:r>
            <a:endParaRPr lang="en-IN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IN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dirty="0">
                <a:latin typeface="Lato" panose="020F0502020204030203" pitchFamily="34" charset="0"/>
                <a:cs typeface="Arial" panose="020B0604020202020204" pitchFamily="34" charset="0"/>
              </a:rPr>
              <a:t>Expand analysis using larger real world data set </a:t>
            </a:r>
            <a:endParaRPr lang="en-IN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5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  <a:endParaRPr lang="en-US" sz="5000" b="1" dirty="0">
              <a:solidFill>
                <a:srgbClr val="0D358D"/>
              </a:solidFill>
              <a:latin typeface="Lato" panose="020F0502020204030203" pitchFamily="34" charset="0"/>
              <a:ea typeface="Aileron Ultra-Bold"/>
              <a:cs typeface="Arial" panose="020B0604020202020204" pitchFamily="34" charset="0"/>
              <a:sym typeface="Aileron Ultra-Bold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THUMBNAIL_REFRESH" val="1"/>
</p:tagLst>
</file>

<file path=ppt/tags/tag10.xml><?xml version="1.0" encoding="utf-8"?>
<p:tagLst xmlns:p="http://schemas.openxmlformats.org/presentationml/2006/main">
  <p:tag name="ARTICULATE_SLIDE_THUMBNAIL_REFRESH" val="1"/>
</p:tagLst>
</file>

<file path=ppt/tags/tag11.xml><?xml version="1.0" encoding="utf-8"?>
<p:tagLst xmlns:p="http://schemas.openxmlformats.org/presentationml/2006/main">
  <p:tag name="ARTICULATE_SLIDE_THUMBNAIL_REFRESH" val="1"/>
</p:tagLst>
</file>

<file path=ppt/tags/tag12.xml><?xml version="1.0" encoding="utf-8"?>
<p:tagLst xmlns:p="http://schemas.openxmlformats.org/presentationml/2006/main">
  <p:tag name="ARTICULATE_SLIDE_THUMBNAIL_REFRESH" val="1"/>
</p:tagLst>
</file>

<file path=ppt/tags/tag13.xml><?xml version="1.0" encoding="utf-8"?>
<p:tagLst xmlns:p="http://schemas.openxmlformats.org/presentationml/2006/main">
  <p:tag name="ARTICULATE_DESIGN_ID_OFFICE THEME" val="ROGxgyxs"/>
  <p:tag name="ARTICULATE_PROJECT_OPEN" val="0"/>
  <p:tag name="ARTICULATE_SLIDE_COUNT" val="1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3255</Words>
  <Application>WPS Presentation</Application>
  <PresentationFormat>On-screen Show (16:9)</PresentationFormat>
  <Paragraphs>127</Paragraphs>
  <Slides>15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SimSun</vt:lpstr>
      <vt:lpstr>Wingdings</vt:lpstr>
      <vt:lpstr>Aileron Bold</vt:lpstr>
      <vt:lpstr>Segoe Print</vt:lpstr>
      <vt:lpstr>Aileron</vt:lpstr>
      <vt:lpstr>Lato</vt:lpstr>
      <vt:lpstr>Calibri</vt:lpstr>
      <vt:lpstr>Calibri</vt:lpstr>
      <vt:lpstr>Times New Roman</vt:lpstr>
      <vt:lpstr>Open Sans</vt:lpstr>
      <vt:lpstr>Calibri</vt:lpstr>
      <vt:lpstr>Arial</vt:lpstr>
      <vt:lpstr>Calibri</vt:lpstr>
      <vt:lpstr>Aileron Ultra-Bold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creator>PptxGenJS</dc:creator>
  <dc:subject>PptxGenJS Presentation</dc:subject>
  <cp:lastModifiedBy>Mansi Pant</cp:lastModifiedBy>
  <cp:revision>29</cp:revision>
  <dcterms:created xsi:type="dcterms:W3CDTF">2026-02-18T09:17:00Z</dcterms:created>
  <dcterms:modified xsi:type="dcterms:W3CDTF">2026-04-04T13:17:08Z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  <property fmtid="{D5CDD505-2E9C-101B-9397-08002B2CF9AE}" pid="4" name="ICV">
    <vt:lpwstr>ACC3E086BAC74828934FC5A60BEF119B_13</vt:lpwstr>
  </property>
  <property fmtid="{D5CDD505-2E9C-101B-9397-08002B2CF9AE}" pid="5" name="KSOProductBuildVer">
    <vt:lpwstr>1033-12.1.0.25242</vt:lpwstr>
  </property>
</Properties>
</file>